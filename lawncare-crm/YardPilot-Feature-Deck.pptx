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0" y="-731520"/>
            <a:ext cx="3657600" cy="3657600"/>
          </a:xfrm>
          <a:prstGeom prst="ellipse">
            <a:avLst/>
          </a:prstGeom>
          <a:solidFill>
            <a:srgbClr val="25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3108960"/>
            <a:ext cx="1645920" cy="1645920"/>
          </a:xfrm>
          <a:prstGeom prst="ellipse">
            <a:avLst/>
          </a:prstGeom>
          <a:solidFill>
            <a:srgbClr val="2A4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3566160"/>
            <a:ext cx="1463040" cy="1463040"/>
          </a:xfrm>
          <a:prstGeom prst="ellipse">
            <a:avLst/>
          </a:prstGeom>
          <a:solidFill>
            <a:srgbClr val="26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D98A"/>
                </a:solidFill>
                <a:latin typeface="Trebuchet MS"/>
              </a:rPr>
              <a:t>YARDPILOT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Run Your Lawn Care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Business on Autopilot.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02736"/>
            <a:ext cx="1426464" cy="310896"/>
          </a:xfrm>
          <a:prstGeom prst="rect">
            <a:avLst/>
          </a:prstGeom>
          <a:solidFill>
            <a:srgbClr val="273F28"/>
          </a:solidFill>
          <a:ln w="9525">
            <a:solidFill>
              <a:srgbClr val="3E6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0273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98A"/>
                </a:solidFill>
                <a:latin typeface="Calibri"/>
              </a:rPr>
              <a:t>Invoicing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3602736"/>
            <a:ext cx="1426464" cy="310896"/>
          </a:xfrm>
          <a:prstGeom prst="rect">
            <a:avLst/>
          </a:prstGeom>
          <a:solidFill>
            <a:srgbClr val="273F28"/>
          </a:solidFill>
          <a:ln w="9525">
            <a:solidFill>
              <a:srgbClr val="3E6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360273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98A"/>
                </a:solidFill>
                <a:latin typeface="Calibri"/>
              </a:rPr>
              <a:t>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8456" y="3602736"/>
            <a:ext cx="1426464" cy="310896"/>
          </a:xfrm>
          <a:prstGeom prst="rect">
            <a:avLst/>
          </a:prstGeom>
          <a:solidFill>
            <a:srgbClr val="273F28"/>
          </a:solidFill>
          <a:ln w="9525">
            <a:solidFill>
              <a:srgbClr val="3E6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60273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98A"/>
                </a:solidFill>
                <a:latin typeface="Calibri"/>
              </a:rPr>
              <a:t>Customer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1224" y="3602736"/>
            <a:ext cx="1426464" cy="310896"/>
          </a:xfrm>
          <a:prstGeom prst="rect">
            <a:avLst/>
          </a:prstGeom>
          <a:solidFill>
            <a:srgbClr val="273F28"/>
          </a:solidFill>
          <a:ln w="9525">
            <a:solidFill>
              <a:srgbClr val="3E6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360273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98A"/>
                </a:solidFill>
                <a:latin typeface="Calibri"/>
              </a:rPr>
              <a:t>Recurring Billing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3992" y="3602736"/>
            <a:ext cx="1426464" cy="310896"/>
          </a:xfrm>
          <a:prstGeom prst="rect">
            <a:avLst/>
          </a:prstGeom>
          <a:solidFill>
            <a:srgbClr val="273F28"/>
          </a:solidFill>
          <a:ln w="9525">
            <a:solidFill>
              <a:srgbClr val="3E6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3602736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FD98A"/>
                </a:solidFill>
                <a:latin typeface="Calibri"/>
              </a:rPr>
              <a:t>Team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2450592" cy="5120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24505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1C"/>
                </a:solidFill>
                <a:latin typeface="Calibri"/>
              </a:rPr>
              <a:t>Start Free Trial  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1788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9A7A"/>
                </a:solidFill>
                <a:latin typeface="Calibri"/>
              </a:rPr>
              <a:t>yardpilot.net  |  14-day free trial  |  No credit card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1C"/>
                </a:solidFill>
                <a:latin typeface="Georgia"/>
              </a:rPr>
              <a:t>Everything you need.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A6A4A"/>
                </a:solidFill>
                <a:latin typeface="Calibri"/>
              </a:rPr>
              <a:t>One platform built for lawn care — customers, jobs, invoicing, and recurring billing.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389888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389888"/>
            <a:ext cx="2606040" cy="8229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600200"/>
            <a:ext cx="493776" cy="493776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24888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591056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Customer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01952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All your customers, service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history, and contact details.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389888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389888"/>
            <a:ext cx="2606040" cy="82296"/>
          </a:xfrm>
          <a:prstGeom prst="rect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9856" y="1600200"/>
            <a:ext cx="493776" cy="493776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624888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1591056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Smart Invoicing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1901952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Branded invoices by email.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Customers pay online instantly.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389888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389888"/>
            <a:ext cx="2606040" cy="8229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3640" y="1600200"/>
            <a:ext cx="493776" cy="493776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24888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591056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Job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901952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Schedule jobs, assign techs,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track every job to completion.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3072384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072384"/>
            <a:ext cx="2606040" cy="82296"/>
          </a:xfrm>
          <a:prstGeom prst="rect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3282696"/>
            <a:ext cx="493776" cy="493776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307384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273552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Customer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84448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Personal portal per customer: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invoices, history, requests.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3072384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3072384"/>
            <a:ext cx="2606040" cy="82296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9856" y="3282696"/>
            <a:ext cx="493776" cy="493776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3307384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3273552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Recurring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4216" y="3584448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Auto monthly payments. CRM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creates paid invoices for you.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3072384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3072384"/>
            <a:ext cx="2606040" cy="82296"/>
          </a:xfrm>
          <a:prstGeom prst="rect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63640" y="3282696"/>
            <a:ext cx="493776" cy="493776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307384"/>
            <a:ext cx="493776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73552"/>
            <a:ext cx="1837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1C"/>
                </a:solidFill>
                <a:latin typeface="Trebuchet MS"/>
              </a:rPr>
              <a:t>Team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584448"/>
            <a:ext cx="1837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Add technicians, assign jobs,</a:t>
            </a:r>
          </a:p>
          <a:p>
            <a:pPr algn="l"/>
            <a:r>
              <a:rPr sz="1000" b="0" i="0">
                <a:solidFill>
                  <a:srgbClr val="4A6A4A"/>
                </a:solidFill>
                <a:latin typeface="Calibri"/>
              </a:rPr>
              <a:t>send daily schedule digests.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63040" y="3291840"/>
            <a:ext cx="1828800" cy="1828800"/>
          </a:xfrm>
          <a:prstGeom prst="ellipse">
            <a:avLst/>
          </a:prstGeom>
          <a:solidFill>
            <a:srgbClr val="25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Get paid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52144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97BC62"/>
                </a:solidFill>
                <a:latin typeface="Georgia"/>
              </a:rPr>
              <a:t>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9933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D98A"/>
                </a:solidFill>
                <a:latin typeface="Calibri"/>
              </a:rPr>
              <a:t>Powered by 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377440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7A"/>
                </a:solidFill>
                <a:latin typeface="Calibri"/>
              </a:rPr>
              <a:t>Secure, professional payments
built into every invoice you send.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3822192"/>
            <a:ext cx="475488" cy="475488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596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9A7A"/>
                </a:solidFill>
                <a:latin typeface="Calibri"/>
              </a:rPr>
              <a:t>Create</a:t>
            </a:r>
          </a:p>
        </p:txBody>
      </p:sp>
      <p:sp>
        <p:nvSpPr>
          <p:cNvPr id="11" name="Oval 10"/>
          <p:cNvSpPr/>
          <p:nvPr/>
        </p:nvSpPr>
        <p:spPr>
          <a:xfrm>
            <a:off x="1581912" y="3822192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84596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44074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9A7A"/>
                </a:solidFill>
                <a:latin typeface="Calibri"/>
              </a:rPr>
              <a:t>Pay Now</a:t>
            </a:r>
          </a:p>
        </p:txBody>
      </p:sp>
      <p:sp>
        <p:nvSpPr>
          <p:cNvPr id="14" name="Oval 13"/>
          <p:cNvSpPr/>
          <p:nvPr/>
        </p:nvSpPr>
        <p:spPr>
          <a:xfrm>
            <a:off x="2660904" y="3822192"/>
            <a:ext cx="475488" cy="475488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3845966"/>
            <a:ext cx="475488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4407408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A9A7A"/>
                </a:solidFill>
                <a:latin typeface="Calibri"/>
              </a:rPr>
              <a:t>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02336"/>
            <a:ext cx="4663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3A1C"/>
                </a:solidFill>
                <a:latin typeface="Georgia"/>
              </a:rPr>
              <a:t>Professional invoices,
sent in seconds.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1700784"/>
            <a:ext cx="182880" cy="1828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17007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166420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1A"/>
                </a:solidFill>
                <a:latin typeface="Calibri"/>
              </a:rPr>
              <a:t>Create invoices from the dashboard in under a minute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2249424"/>
            <a:ext cx="182880" cy="1828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2494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21284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1A"/>
                </a:solidFill>
                <a:latin typeface="Calibri"/>
              </a:rPr>
              <a:t>Customers get a branded email with a Pay Now button</a:t>
            </a:r>
          </a:p>
        </p:txBody>
      </p:sp>
      <p:sp>
        <p:nvSpPr>
          <p:cNvPr id="24" name="Oval 23"/>
          <p:cNvSpPr/>
          <p:nvPr/>
        </p:nvSpPr>
        <p:spPr>
          <a:xfrm>
            <a:off x="4160520" y="2798064"/>
            <a:ext cx="182880" cy="1828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79806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76148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1A"/>
                </a:solidFill>
                <a:latin typeface="Calibri"/>
              </a:rPr>
              <a:t>Stripe processes payment — funds go straight to you</a:t>
            </a:r>
          </a:p>
        </p:txBody>
      </p:sp>
      <p:sp>
        <p:nvSpPr>
          <p:cNvPr id="27" name="Oval 26"/>
          <p:cNvSpPr/>
          <p:nvPr/>
        </p:nvSpPr>
        <p:spPr>
          <a:xfrm>
            <a:off x="4160520" y="3346704"/>
            <a:ext cx="182880" cy="1828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34670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331012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1A"/>
                </a:solidFill>
                <a:latin typeface="Calibri"/>
              </a:rPr>
              <a:t>Invoice auto-marked paid when customer pays online</a:t>
            </a:r>
          </a:p>
        </p:txBody>
      </p:sp>
      <p:sp>
        <p:nvSpPr>
          <p:cNvPr id="30" name="Oval 29"/>
          <p:cNvSpPr/>
          <p:nvPr/>
        </p:nvSpPr>
        <p:spPr>
          <a:xfrm>
            <a:off x="4160520" y="3895344"/>
            <a:ext cx="182880" cy="1828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38953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85876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1A"/>
                </a:solidFill>
                <a:latin typeface="Calibri"/>
              </a:rPr>
              <a:t>Automatic reminders for upcoming and overdue invoices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F4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5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6576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Georgia"/>
              </a:rPr>
              <a:t>Your customers,</a:t>
            </a:r>
          </a:p>
          <a:p>
            <a:r>
              <a:rPr sz="3800" b="1">
                <a:solidFill>
                  <a:srgbClr val="97BC62"/>
                </a:solidFill>
                <a:latin typeface="Georgia"/>
              </a:rPr>
              <a:t>impressed.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0116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98A"/>
                </a:solidFill>
                <a:latin typeface="Calibri"/>
              </a:rPr>
              <a:t>Give every customer a personal portal —
no app, no password, no hassle.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852928"/>
            <a:ext cx="4206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7A9A7A"/>
                </a:solidFill>
                <a:latin typeface="Calibri"/>
              </a:rPr>
              <a:t>Delivered via a secure 7-day magic link
included in every invoice email.</a:t>
            </a:r>
          </a:p>
        </p:txBody>
      </p:sp>
      <p:sp>
        <p:nvSpPr>
          <p:cNvPr id="7" name="Oval 6"/>
          <p:cNvSpPr/>
          <p:nvPr/>
        </p:nvSpPr>
        <p:spPr>
          <a:xfrm>
            <a:off x="420623" y="3602735"/>
            <a:ext cx="512064" cy="512064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3628339"/>
            <a:ext cx="512064" cy="46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913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A7A"/>
                </a:solidFill>
                <a:latin typeface="Calibri"/>
              </a:rPr>
              <a:t>Works on any device — phone, tablet, or 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023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A4A"/>
                </a:solidFill>
                <a:latin typeface="Trebuchet MS"/>
              </a:rPr>
              <a:t>What your customers see: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786384"/>
            <a:ext cx="347472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3A1C"/>
                </a:solidFill>
                <a:latin typeface="Georgia"/>
              </a:rPr>
              <a:t>Inside the
Customer Portal</a:t>
            </a:r>
          </a:p>
        </p:txBody>
      </p:sp>
      <p:sp>
        <p:nvSpPr>
          <p:cNvPr id="12" name="Oval 11"/>
          <p:cNvSpPr/>
          <p:nvPr/>
        </p:nvSpPr>
        <p:spPr>
          <a:xfrm>
            <a:off x="5376672" y="1956816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978761"/>
            <a:ext cx="43891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0482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1A"/>
                </a:solidFill>
                <a:latin typeface="Calibri"/>
              </a:rPr>
              <a:t>View and pay all invoices online</a:t>
            </a:r>
          </a:p>
        </p:txBody>
      </p:sp>
      <p:sp>
        <p:nvSpPr>
          <p:cNvPr id="15" name="Oval 14"/>
          <p:cNvSpPr/>
          <p:nvPr/>
        </p:nvSpPr>
        <p:spPr>
          <a:xfrm>
            <a:off x="5376672" y="2633472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655417"/>
            <a:ext cx="43891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724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1A"/>
                </a:solidFill>
                <a:latin typeface="Calibri"/>
              </a:rPr>
              <a:t>See complete service history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310128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3332073"/>
            <a:ext cx="43891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4015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1A"/>
                </a:solidFill>
                <a:latin typeface="Calibri"/>
              </a:rPr>
              <a:t>Update their own contact info</a:t>
            </a:r>
          </a:p>
        </p:txBody>
      </p:sp>
      <p:sp>
        <p:nvSpPr>
          <p:cNvPr id="21" name="Oval 20"/>
          <p:cNvSpPr/>
          <p:nvPr/>
        </p:nvSpPr>
        <p:spPr>
          <a:xfrm>
            <a:off x="5376672" y="3986783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4008729"/>
            <a:ext cx="43891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40782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1A"/>
                </a:solidFill>
                <a:latin typeface="Calibri"/>
              </a:rPr>
              <a:t>Submit new service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60720" y="-365760"/>
            <a:ext cx="2377440" cy="2377440"/>
          </a:xfrm>
          <a:prstGeom prst="ellipse">
            <a:avLst/>
          </a:prstGeom>
          <a:solidFill>
            <a:srgbClr val="25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3A1C"/>
                </a:solidFill>
                <a:latin typeface="Georgia"/>
              </a:rPr>
              <a:t>Set it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5097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C5F2D"/>
                </a:solidFill>
                <a:latin typeface="Georgia"/>
              </a:rPr>
              <a:t>forget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824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A4A"/>
                </a:solidFill>
                <a:latin typeface="Calibri"/>
              </a:rPr>
              <a:t>Automatic monthly billing — no chasing, no manual invoicing.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40864"/>
            <a:ext cx="457200" cy="457200"/>
          </a:xfrm>
          <a:prstGeom prst="ellipse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35915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1C"/>
                </a:solidFill>
                <a:latin typeface="Calibri"/>
              </a:rPr>
              <a:t>You set up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6151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A4A"/>
                </a:solidFill>
                <a:latin typeface="Calibri"/>
              </a:rPr>
              <a:t>Enter plan name &amp; monthly amount on the customer page.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314553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1C"/>
                </a:solidFill>
                <a:latin typeface="Calibri"/>
              </a:rPr>
              <a:t>Customer enters their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34015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A4A"/>
                </a:solidFill>
                <a:latin typeface="Calibri"/>
              </a:rPr>
              <a:t>Stripe emails them a secure link — takes 30 seconds.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393192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1C"/>
                </a:solidFill>
                <a:latin typeface="Calibri"/>
              </a:rPr>
              <a:t>Automatic every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418795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A4A"/>
                </a:solidFill>
                <a:latin typeface="Calibri"/>
              </a:rPr>
              <a:t>Charged, paid invoice created, receipt sent. You do nothing.</a:t>
            </a:r>
          </a:p>
        </p:txBody>
      </p:sp>
      <p:sp>
        <p:nvSpPr>
          <p:cNvPr id="20" name="Oval 19"/>
          <p:cNvSpPr/>
          <p:nvPr/>
        </p:nvSpPr>
        <p:spPr>
          <a:xfrm>
            <a:off x="6867144" y="676656"/>
            <a:ext cx="987552" cy="987552"/>
          </a:xfrm>
          <a:prstGeom prst="ellipse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7144" y="726033"/>
            <a:ext cx="987552" cy="888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31136"/>
            <a:ext cx="32004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Zero admin.
Full cash 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621024"/>
            <a:ext cx="3200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FD98A"/>
                </a:solidFill>
                <a:latin typeface="Calibri"/>
              </a:rPr>
              <a:t>Customers stay on plan.
You stay focused on the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8229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3A1C"/>
                </a:solidFill>
                <a:latin typeface="Georgia"/>
              </a:rPr>
              <a:t>Simple, transparent pricing.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A6A4A"/>
                </a:solidFill>
                <a:latin typeface="Calibri"/>
              </a:rPr>
              <a:t>14-day free trial  |  No credit card required  |  Cancel anytime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36192"/>
            <a:ext cx="248716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36192"/>
            <a:ext cx="2487168" cy="566928"/>
          </a:xfrm>
          <a:prstGeom prst="rect">
            <a:avLst/>
          </a:prstGeom>
          <a:solidFill>
            <a:srgbClr val="3E7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1C"/>
                </a:solidFill>
                <a:latin typeface="Georgia"/>
              </a:rPr>
              <a:t>$29.99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A4A"/>
                </a:solidFill>
                <a:latin typeface="Calibri"/>
              </a:rPr>
              <a:t>/ month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04495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0449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Up to 50 customers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3374136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28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1 technician account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" y="3703320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70332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Invoicing &amp; scheduling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" y="4032504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03250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9867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Customer portal access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" y="4361688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61688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315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Email notifications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1207007"/>
            <a:ext cx="1645920" cy="25603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120700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3A1C"/>
                </a:solidFill>
                <a:latin typeface="Trebuchet MS"/>
              </a:rPr>
              <a:t>MOST POPULAR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1536192"/>
            <a:ext cx="2487168" cy="3383280"/>
          </a:xfrm>
          <a:prstGeom prst="rect">
            <a:avLst/>
          </a:prstGeom>
          <a:solidFill>
            <a:srgbClr val="1B3A1C"/>
          </a:solidFill>
          <a:ln w="9525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28416" y="1536192"/>
            <a:ext cx="2487168" cy="566928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1536192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6" y="215798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97BC62"/>
                </a:solidFill>
                <a:latin typeface="Georgia"/>
              </a:rPr>
              <a:t>$59.99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265176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FD98A"/>
                </a:solidFill>
                <a:latin typeface="Calibri"/>
              </a:rPr>
              <a:t>/ month</a:t>
            </a:r>
          </a:p>
        </p:txBody>
      </p:sp>
      <p:sp>
        <p:nvSpPr>
          <p:cNvPr id="31" name="Oval 30"/>
          <p:cNvSpPr/>
          <p:nvPr/>
        </p:nvSpPr>
        <p:spPr>
          <a:xfrm>
            <a:off x="3483864" y="3044952"/>
            <a:ext cx="164592" cy="164592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3864" y="30449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Up to 100 customers</a:t>
            </a:r>
          </a:p>
        </p:txBody>
      </p:sp>
      <p:sp>
        <p:nvSpPr>
          <p:cNvPr id="34" name="Oval 33"/>
          <p:cNvSpPr/>
          <p:nvPr/>
        </p:nvSpPr>
        <p:spPr>
          <a:xfrm>
            <a:off x="3483864" y="3374136"/>
            <a:ext cx="164592" cy="164592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83864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608" y="3328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 technician accounts</a:t>
            </a:r>
          </a:p>
        </p:txBody>
      </p:sp>
      <p:sp>
        <p:nvSpPr>
          <p:cNvPr id="37" name="Oval 36"/>
          <p:cNvSpPr/>
          <p:nvPr/>
        </p:nvSpPr>
        <p:spPr>
          <a:xfrm>
            <a:off x="3483864" y="3703320"/>
            <a:ext cx="164592" cy="164592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3864" y="370332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Everything in Basic</a:t>
            </a:r>
          </a:p>
        </p:txBody>
      </p:sp>
      <p:sp>
        <p:nvSpPr>
          <p:cNvPr id="40" name="Oval 39"/>
          <p:cNvSpPr/>
          <p:nvPr/>
        </p:nvSpPr>
        <p:spPr>
          <a:xfrm>
            <a:off x="3483864" y="4032504"/>
            <a:ext cx="164592" cy="164592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3864" y="403250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608" y="39867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Estimates &amp; reports</a:t>
            </a:r>
          </a:p>
        </p:txBody>
      </p:sp>
      <p:sp>
        <p:nvSpPr>
          <p:cNvPr id="43" name="Oval 42"/>
          <p:cNvSpPr/>
          <p:nvPr/>
        </p:nvSpPr>
        <p:spPr>
          <a:xfrm>
            <a:off x="3483864" y="4361688"/>
            <a:ext cx="164592" cy="164592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3864" y="4361688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1608" y="4315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Multiple QR code links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1536192"/>
            <a:ext cx="248716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1536192"/>
            <a:ext cx="2487168" cy="566928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1536192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PREMIER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2157984"/>
            <a:ext cx="2487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1C"/>
                </a:solidFill>
                <a:latin typeface="Georgia"/>
              </a:rPr>
              <a:t>$99.99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2651760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A4A"/>
                </a:solidFill>
                <a:latin typeface="Calibri"/>
              </a:rPr>
              <a:t>/ month</a:t>
            </a:r>
          </a:p>
        </p:txBody>
      </p:sp>
      <p:sp>
        <p:nvSpPr>
          <p:cNvPr id="51" name="Oval 50"/>
          <p:cNvSpPr/>
          <p:nvPr/>
        </p:nvSpPr>
        <p:spPr>
          <a:xfrm>
            <a:off x="6355080" y="304495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04495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92824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Unlimited customers</a:t>
            </a:r>
          </a:p>
        </p:txBody>
      </p:sp>
      <p:sp>
        <p:nvSpPr>
          <p:cNvPr id="54" name="Oval 53"/>
          <p:cNvSpPr/>
          <p:nvPr/>
        </p:nvSpPr>
        <p:spPr>
          <a:xfrm>
            <a:off x="6355080" y="3374136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374136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2824" y="3328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Unlimited technicians</a:t>
            </a:r>
          </a:p>
        </p:txBody>
      </p:sp>
      <p:sp>
        <p:nvSpPr>
          <p:cNvPr id="57" name="Oval 56"/>
          <p:cNvSpPr/>
          <p:nvPr/>
        </p:nvSpPr>
        <p:spPr>
          <a:xfrm>
            <a:off x="6355080" y="3703320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370332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2824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Everything in Pro</a:t>
            </a:r>
          </a:p>
        </p:txBody>
      </p:sp>
      <p:sp>
        <p:nvSpPr>
          <p:cNvPr id="60" name="Oval 59"/>
          <p:cNvSpPr/>
          <p:nvPr/>
        </p:nvSpPr>
        <p:spPr>
          <a:xfrm>
            <a:off x="6355080" y="4032504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403250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92824" y="39867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Priority support</a:t>
            </a:r>
          </a:p>
        </p:txBody>
      </p:sp>
      <p:sp>
        <p:nvSpPr>
          <p:cNvPr id="63" name="Oval 62"/>
          <p:cNvSpPr/>
          <p:nvPr/>
        </p:nvSpPr>
        <p:spPr>
          <a:xfrm>
            <a:off x="6355080" y="4361688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4361688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92824" y="4315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1A"/>
                </a:solidFill>
                <a:latin typeface="Calibri"/>
              </a:rPr>
              <a:t>Early access to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-548640"/>
            <a:ext cx="3657600" cy="3657600"/>
          </a:xfrm>
          <a:prstGeom prst="ellipse">
            <a:avLst/>
          </a:prstGeom>
          <a:solidFill>
            <a:srgbClr val="25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2377440"/>
            <a:ext cx="3108960" cy="3108960"/>
          </a:xfrm>
          <a:prstGeom prst="ellipse">
            <a:avLst/>
          </a:prstGeom>
          <a:solidFill>
            <a:srgbClr val="2A4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74720" y="3840480"/>
            <a:ext cx="1645920" cy="1645920"/>
          </a:xfrm>
          <a:prstGeom prst="ellipse">
            <a:avLst/>
          </a:prstGeom>
          <a:solidFill>
            <a:srgbClr val="2E5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D98A"/>
                </a:solidFill>
                <a:latin typeface="Trebuchet MS"/>
              </a:rPr>
              <a:t>YARDPILOT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Ready to grow your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97BC62"/>
                </a:solidFill>
                <a:latin typeface="Georgia"/>
              </a:rPr>
              <a:t>lawn care business?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6949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98A"/>
                </a:solidFill>
                <a:latin typeface="Calibri"/>
              </a:rPr>
              <a:t>Join lawn care operators already using YardPilot to save time and get paid faster.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3035808"/>
            <a:ext cx="2926080" cy="56692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3580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1C"/>
                </a:solidFill>
                <a:latin typeface="Calibri"/>
              </a:rPr>
              <a:t>Start Free Trial  -&gt;  yardpilot.net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7A9A7A"/>
                </a:solidFill>
                <a:latin typeface="Calibri"/>
              </a:rPr>
              <a:t>14-day free trial  |  No contract  |  Cancel anytime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5" y="4206240"/>
            <a:ext cx="1243584" cy="292608"/>
          </a:xfrm>
          <a:prstGeom prst="rect">
            <a:avLst/>
          </a:prstGeom>
          <a:solidFill>
            <a:srgbClr val="263F27"/>
          </a:solidFill>
          <a:ln w="9525">
            <a:solidFill>
              <a:srgbClr val="3A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5" y="4206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98A"/>
                </a:solidFill>
                <a:latin typeface="Calibri"/>
              </a:rPr>
              <a:t>Invoicing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4206240"/>
            <a:ext cx="1243584" cy="292608"/>
          </a:xfrm>
          <a:prstGeom prst="rect">
            <a:avLst/>
          </a:prstGeom>
          <a:solidFill>
            <a:srgbClr val="263F27"/>
          </a:solidFill>
          <a:ln w="9525">
            <a:solidFill>
              <a:srgbClr val="3A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4206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98A"/>
                </a:solidFill>
                <a:latin typeface="Calibri"/>
              </a:rPr>
              <a:t>Scheduling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4206240"/>
            <a:ext cx="1243584" cy="292608"/>
          </a:xfrm>
          <a:prstGeom prst="rect">
            <a:avLst/>
          </a:prstGeom>
          <a:solidFill>
            <a:srgbClr val="263F27"/>
          </a:solidFill>
          <a:ln w="9525">
            <a:solidFill>
              <a:srgbClr val="3A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4206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98A"/>
                </a:solidFill>
                <a:latin typeface="Calibri"/>
              </a:rPr>
              <a:t>Customer 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8383" y="4206240"/>
            <a:ext cx="1243584" cy="292608"/>
          </a:xfrm>
          <a:prstGeom prst="rect">
            <a:avLst/>
          </a:prstGeom>
          <a:solidFill>
            <a:srgbClr val="263F27"/>
          </a:solidFill>
          <a:ln w="9525">
            <a:solidFill>
              <a:srgbClr val="3A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4206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98A"/>
                </a:solidFill>
                <a:latin typeface="Calibri"/>
              </a:rPr>
              <a:t>Recurring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206240"/>
            <a:ext cx="1243584" cy="292608"/>
          </a:xfrm>
          <a:prstGeom prst="rect">
            <a:avLst/>
          </a:prstGeom>
          <a:solidFill>
            <a:srgbClr val="263F27"/>
          </a:solidFill>
          <a:ln w="9525">
            <a:solidFill>
              <a:srgbClr val="3A6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206240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98A"/>
                </a:solidFill>
                <a:latin typeface="Calibri"/>
              </a:rPr>
              <a:t>Team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